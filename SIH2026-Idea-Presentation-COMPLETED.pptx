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300" b="1" i="0">
                <a:solidFill>
                  <a:srgbClr val="122B4E"/>
                </a:solidFill>
                <a:latin typeface="Calibri"/>
              </a:rPr>
              <a:t>Problem Statement ID – </a:t>
            </a:r>
            <a:r>
              <a:rPr sz="1300" b="0" i="0">
                <a:solidFill>
                  <a:srgbClr val="5A6674"/>
                </a:solidFill>
                <a:latin typeface="Calibri"/>
              </a:rPr>
              <a:t>[fill from portal]</a:t>
            </a:r>
            <a:endParaRPr lang="en-US" dirty="0"/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300" b="1" i="0">
                <a:solidFill>
                  <a:srgbClr val="122B4E"/>
                </a:solidFill>
                <a:latin typeface="Calibri"/>
              </a:rPr>
              <a:t>Problem Statement Title – </a:t>
            </a:r>
            <a:r>
              <a:rPr sz="1300" b="1" i="0">
                <a:solidFill>
                  <a:srgbClr val="E86B2D"/>
                </a:solidFill>
                <a:latin typeface="Calibri"/>
              </a:rPr>
              <a:t>AI-Powered Criminal Network Analysis System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300" b="1" i="0">
                <a:solidFill>
                  <a:srgbClr val="122B4E"/>
                </a:solidFill>
                <a:latin typeface="Calibri"/>
              </a:rPr>
              <a:t>Theme – </a:t>
            </a:r>
            <a:r>
              <a:rPr sz="1300" b="0" i="0">
                <a:solidFill>
                  <a:srgbClr val="5A6674"/>
                </a:solidFill>
                <a:latin typeface="Calibri"/>
              </a:rPr>
              <a:t>Smart Policing &amp; AI in Governance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300" b="1" i="0">
                <a:solidFill>
                  <a:srgbClr val="122B4E"/>
                </a:solidFill>
                <a:latin typeface="Calibri"/>
              </a:rPr>
              <a:t>PS Category – </a:t>
            </a:r>
            <a:r>
              <a:rPr sz="1300" b="0" i="0">
                <a:solidFill>
                  <a:srgbClr val="5A6674"/>
                </a:solidFill>
                <a:latin typeface="Calibri"/>
              </a:rPr>
              <a:t>Software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300" b="1" i="0">
                <a:solidFill>
                  <a:srgbClr val="122B4E"/>
                </a:solidFill>
                <a:latin typeface="Calibri"/>
              </a:rPr>
              <a:t>Team ID – </a:t>
            </a:r>
            <a:r>
              <a:rPr sz="1300" b="0" i="0">
                <a:solidFill>
                  <a:srgbClr val="5A6674"/>
                </a:solidFill>
                <a:latin typeface="Calibri"/>
              </a:rPr>
              <a:t>[fill from portal]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1300" b="1" i="0">
                <a:solidFill>
                  <a:srgbClr val="122B4E"/>
                </a:solidFill>
                <a:latin typeface="Calibri"/>
              </a:rPr>
              <a:t>Team Name – </a:t>
            </a:r>
            <a:r>
              <a:rPr sz="1300" b="0" i="0">
                <a:solidFill>
                  <a:srgbClr val="5A6674"/>
                </a:solidFill>
                <a:latin typeface="Calibri"/>
              </a:rPr>
              <a:t>[Your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54480" y="4297680"/>
            <a:ext cx="7223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E86B2D"/>
                </a:solidFill>
                <a:latin typeface="Calibri"/>
              </a:rPr>
              <a:t>IDEA TITLE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800" b="1" i="0">
                <a:solidFill>
                  <a:srgbClr val="122B4E"/>
                </a:solidFill>
                <a:latin typeface="Calibri"/>
              </a:rPr>
              <a:t>AI-Powered Criminal Network Analysis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5A6674"/>
                </a:solidFill>
                <a:latin typeface="Calibri"/>
              </a:rPr>
              <a:t>Uncovering hidden networks from FIRs, CDRs &amp; financial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300" b="1" dirty="0">
                <a:solidFill>
                  <a:srgbClr val="E86B2D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300" b="1" dirty="0">
                <a:solidFill>
                  <a:srgbClr val="E86B2D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6766560" y="38404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674"/>
                </a:solidFill>
                <a:latin typeface="Calibri"/>
              </a:rPr>
              <a:t>How we address the problem  •  Innovation</a:t>
            </a:r>
          </a:p>
        </p:txBody>
      </p:sp>
      <p:sp>
        <p:nvSpPr>
          <p:cNvPr id="15363" name="Oval 15362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E8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640080" y="1289304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1234440" y="123444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122B4E"/>
                </a:solidFill>
                <a:latin typeface="Calibri"/>
              </a:rPr>
              <a:t>Unify fragmented sources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5A6674"/>
                </a:solidFill>
                <a:latin typeface="Calibri"/>
              </a:rPr>
              <a:t>FIRs, CDRs, bank records, social &amp; surveillance into one knowledge graph.</a:t>
            </a:r>
          </a:p>
        </p:txBody>
      </p:sp>
      <p:sp>
        <p:nvSpPr>
          <p:cNvPr id="15366" name="Oval 15365"/>
          <p:cNvSpPr/>
          <p:nvPr/>
        </p:nvSpPr>
        <p:spPr>
          <a:xfrm>
            <a:off x="640080" y="2459736"/>
            <a:ext cx="457200" cy="457200"/>
          </a:xfrm>
          <a:prstGeom prst="ellipse">
            <a:avLst/>
          </a:prstGeom>
          <a:solidFill>
            <a:srgbClr val="E8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640080" y="251460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1234440" y="2459736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122B4E"/>
                </a:solidFill>
                <a:latin typeface="Calibri"/>
              </a:rPr>
              <a:t>NLP entity extraction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5A6674"/>
                </a:solidFill>
                <a:latin typeface="Calibri"/>
              </a:rPr>
              <a:t>Auto-identifies people, phones, vehicles, orgs &amp; locations from unstructured text.</a:t>
            </a:r>
          </a:p>
        </p:txBody>
      </p:sp>
      <p:sp>
        <p:nvSpPr>
          <p:cNvPr id="15369" name="Oval 15368"/>
          <p:cNvSpPr/>
          <p:nvPr/>
        </p:nvSpPr>
        <p:spPr>
          <a:xfrm>
            <a:off x="640080" y="3685032"/>
            <a:ext cx="457200" cy="457200"/>
          </a:xfrm>
          <a:prstGeom prst="ellipse">
            <a:avLst/>
          </a:prstGeom>
          <a:solidFill>
            <a:srgbClr val="E8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640080" y="3739896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1234440" y="3685032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122B4E"/>
                </a:solidFill>
                <a:latin typeface="Calibri"/>
              </a:rPr>
              <a:t>Graph analytics at scale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5A6674"/>
                </a:solidFill>
                <a:latin typeface="Calibri"/>
              </a:rPr>
              <a:t>Discovers hidden links, kingpins &amp; communities even when evidence is scattered.</a:t>
            </a:r>
          </a:p>
        </p:txBody>
      </p:sp>
      <p:sp>
        <p:nvSpPr>
          <p:cNvPr id="15372" name="Oval 15371"/>
          <p:cNvSpPr/>
          <p:nvPr/>
        </p:nvSpPr>
        <p:spPr>
          <a:xfrm>
            <a:off x="640080" y="4910328"/>
            <a:ext cx="457200" cy="457200"/>
          </a:xfrm>
          <a:prstGeom prst="ellipse">
            <a:avLst/>
          </a:prstGeom>
          <a:solidFill>
            <a:srgbClr val="E8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640080" y="4965192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1234440" y="4910328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122B4E"/>
                </a:solidFill>
                <a:latin typeface="Calibri"/>
              </a:rPr>
              <a:t>Investigative dashboard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 b="0" i="0">
                <a:solidFill>
                  <a:srgbClr val="5A6674"/>
                </a:solidFill>
                <a:latin typeface="Calibri"/>
              </a:rPr>
              <a:t>Visual network, ranked influencers &amp; anomaly alerts for quick triage.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6400800" y="1188720"/>
            <a:ext cx="5303520" cy="4800600"/>
          </a:xfrm>
          <a:prstGeom prst="roundRect">
            <a:avLst>
              <a:gd name="adj" fmla="val 6000"/>
            </a:avLst>
          </a:prstGeom>
          <a:solidFill>
            <a:srgbClr val="E9F1FB"/>
          </a:solidFill>
          <a:ln w="1587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6629400" y="14173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6FB2"/>
                </a:solidFill>
                <a:latin typeface="Calibri"/>
              </a:rPr>
              <a:t>Fragmented data  →  One connected view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6583680" y="19659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TextBox 15377"/>
          <p:cNvSpPr txBox="1"/>
          <p:nvPr/>
        </p:nvSpPr>
        <p:spPr>
          <a:xfrm>
            <a:off x="6583680" y="1965960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FIRs &amp; police reports</a:t>
            </a:r>
          </a:p>
        </p:txBody>
      </p:sp>
      <p:cxnSp>
        <p:nvCxnSpPr>
          <p:cNvPr id="15379" name="Connector 15378"/>
          <p:cNvCxnSpPr/>
          <p:nvPr/>
        </p:nvCxnSpPr>
        <p:spPr>
          <a:xfrm>
            <a:off x="7658100" y="2423160"/>
            <a:ext cx="0" cy="502920"/>
          </a:xfrm>
          <a:prstGeom prst="line">
            <a:avLst/>
          </a:prstGeom>
          <a:ln w="19050">
            <a:solidFill>
              <a:srgbClr val="1F6FB2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0" name="Rounded Rectangle 15379"/>
          <p:cNvSpPr/>
          <p:nvPr/>
        </p:nvSpPr>
        <p:spPr>
          <a:xfrm>
            <a:off x="6583680" y="246888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6583680" y="2468880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Call Detail Records</a:t>
            </a:r>
          </a:p>
        </p:txBody>
      </p:sp>
      <p:cxnSp>
        <p:nvCxnSpPr>
          <p:cNvPr id="15382" name="Connector 15381"/>
          <p:cNvCxnSpPr/>
          <p:nvPr/>
        </p:nvCxnSpPr>
        <p:spPr>
          <a:xfrm>
            <a:off x="7658100" y="2926080"/>
            <a:ext cx="0" cy="502920"/>
          </a:xfrm>
          <a:prstGeom prst="line">
            <a:avLst/>
          </a:prstGeom>
          <a:ln w="19050">
            <a:solidFill>
              <a:srgbClr val="1F6FB2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3" name="Rounded Rectangle 15382"/>
          <p:cNvSpPr/>
          <p:nvPr/>
        </p:nvSpPr>
        <p:spPr>
          <a:xfrm>
            <a:off x="6583680" y="29718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TextBox 15383"/>
          <p:cNvSpPr txBox="1"/>
          <p:nvPr/>
        </p:nvSpPr>
        <p:spPr>
          <a:xfrm>
            <a:off x="6583680" y="2971800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Bank transactions</a:t>
            </a:r>
          </a:p>
        </p:txBody>
      </p:sp>
      <p:cxnSp>
        <p:nvCxnSpPr>
          <p:cNvPr id="15385" name="Connector 15384"/>
          <p:cNvCxnSpPr/>
          <p:nvPr/>
        </p:nvCxnSpPr>
        <p:spPr>
          <a:xfrm>
            <a:off x="7658100" y="3429000"/>
            <a:ext cx="0" cy="502920"/>
          </a:xfrm>
          <a:prstGeom prst="line">
            <a:avLst/>
          </a:prstGeom>
          <a:ln w="19050">
            <a:solidFill>
              <a:srgbClr val="1F6FB2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6" name="Rounded Rectangle 15385"/>
          <p:cNvSpPr/>
          <p:nvPr/>
        </p:nvSpPr>
        <p:spPr>
          <a:xfrm>
            <a:off x="6583680" y="347472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TextBox 15386"/>
          <p:cNvSpPr txBox="1"/>
          <p:nvPr/>
        </p:nvSpPr>
        <p:spPr>
          <a:xfrm>
            <a:off x="6583680" y="3474720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Social / surveillance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9144000" y="196596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E8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9144000" y="1965960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NLP Extract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9144000" y="27432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E8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1" name="TextBox 15390"/>
          <p:cNvSpPr txBox="1"/>
          <p:nvPr/>
        </p:nvSpPr>
        <p:spPr>
          <a:xfrm>
            <a:off x="9144000" y="2743200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Link Entities</a:t>
            </a:r>
          </a:p>
        </p:txBody>
      </p:sp>
      <p:cxnSp>
        <p:nvCxnSpPr>
          <p:cNvPr id="15392" name="Connector 15391"/>
          <p:cNvCxnSpPr/>
          <p:nvPr/>
        </p:nvCxnSpPr>
        <p:spPr>
          <a:xfrm>
            <a:off x="8988552" y="2194560"/>
            <a:ext cx="155448" cy="0"/>
          </a:xfrm>
          <a:prstGeom prst="line">
            <a:avLst/>
          </a:prstGeom>
          <a:ln w="25400">
            <a:solidFill>
              <a:srgbClr val="1F6FB2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3" name="Connector 15392"/>
          <p:cNvCxnSpPr/>
          <p:nvPr/>
        </p:nvCxnSpPr>
        <p:spPr>
          <a:xfrm>
            <a:off x="8988552" y="2971800"/>
            <a:ext cx="155448" cy="0"/>
          </a:xfrm>
          <a:prstGeom prst="line">
            <a:avLst/>
          </a:prstGeom>
          <a:ln w="25400">
            <a:solidFill>
              <a:srgbClr val="1F6FB2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4" name="Rounded Rectangle 15393"/>
          <p:cNvSpPr/>
          <p:nvPr/>
        </p:nvSpPr>
        <p:spPr>
          <a:xfrm>
            <a:off x="6583680" y="5029200"/>
            <a:ext cx="4846320" cy="868680"/>
          </a:xfrm>
          <a:prstGeom prst="roundRect">
            <a:avLst>
              <a:gd name="adj" fmla="val 50000"/>
            </a:avLst>
          </a:prstGeom>
          <a:solidFill>
            <a:srgbClr val="12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5" name="TextBox 15394"/>
          <p:cNvSpPr txBox="1"/>
          <p:nvPr/>
        </p:nvSpPr>
        <p:spPr>
          <a:xfrm>
            <a:off x="6675120" y="5029200"/>
            <a:ext cx="4663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CE7D8"/>
                </a:solidFill>
                <a:latin typeface="Calibri"/>
              </a:rPr>
              <a:t>Network Graph  +  Role Detection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kingpin · financier · lieutenant · associate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6629400" y="44805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F6FB2"/>
                </a:solidFill>
                <a:latin typeface="Calibri"/>
              </a:rPr>
              <a:t>one unified intelligence picture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300" b="1" dirty="0">
                <a:solidFill>
                  <a:srgbClr val="E86B2D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766560" y="38404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674"/>
                </a:solidFill>
                <a:latin typeface="Calibri"/>
              </a:rPr>
              <a:t>Working prototype  •  pipeline flowchart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48640" y="11887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22B4E"/>
                </a:solidFill>
                <a:latin typeface="Calibri"/>
              </a:rPr>
              <a:t>Technology stack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1600200"/>
            <a:ext cx="26517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86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685800" y="1618488"/>
            <a:ext cx="2468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" b="1" i="0">
                <a:solidFill>
                  <a:srgbClr val="122B4E"/>
                </a:solidFill>
                <a:latin typeface="Calibri"/>
              </a:rPr>
              <a:t>Python 3.11 · FastAPI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50" b="0" i="0">
                <a:solidFill>
                  <a:srgbClr val="5A6674"/>
                </a:solidFill>
                <a:latin typeface="Calibri"/>
              </a:rPr>
              <a:t>backend &amp; REST API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48640" y="2258568"/>
            <a:ext cx="26517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86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85800" y="2276856"/>
            <a:ext cx="2468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" b="1" i="0">
                <a:solidFill>
                  <a:srgbClr val="122B4E"/>
                </a:solidFill>
                <a:latin typeface="Calibri"/>
              </a:rPr>
              <a:t>spaCy NER + regex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50" b="0" i="0">
                <a:solidFill>
                  <a:srgbClr val="5A6674"/>
                </a:solidFill>
                <a:latin typeface="Calibri"/>
              </a:rPr>
              <a:t>entity extraction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48640" y="2916935"/>
            <a:ext cx="26517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86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85800" y="2935223"/>
            <a:ext cx="2468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" b="1" i="0">
                <a:solidFill>
                  <a:srgbClr val="122B4E"/>
                </a:solidFill>
                <a:latin typeface="Calibri"/>
              </a:rPr>
              <a:t>NetworkX + python-louvain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50" b="0" i="0">
                <a:solidFill>
                  <a:srgbClr val="5A6674"/>
                </a:solidFill>
                <a:latin typeface="Calibri"/>
              </a:rPr>
              <a:t>graph analytics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48640" y="3575303"/>
            <a:ext cx="26517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86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685800" y="3593591"/>
            <a:ext cx="2468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" b="1" i="0">
                <a:solidFill>
                  <a:srgbClr val="122B4E"/>
                </a:solidFill>
                <a:latin typeface="Calibri"/>
              </a:rPr>
              <a:t>Pandas / NumPy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50" b="0" i="0">
                <a:solidFill>
                  <a:srgbClr val="5A6674"/>
                </a:solidFill>
                <a:latin typeface="Calibri"/>
              </a:rPr>
              <a:t>data processing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48640" y="4233671"/>
            <a:ext cx="26517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86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685800" y="4251959"/>
            <a:ext cx="2468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" b="1" i="0">
                <a:solidFill>
                  <a:srgbClr val="122B4E"/>
                </a:solidFill>
                <a:latin typeface="Calibri"/>
              </a:rPr>
              <a:t>Cytoscape.js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50" b="0" i="0">
                <a:solidFill>
                  <a:srgbClr val="5A6674"/>
                </a:solidFill>
                <a:latin typeface="Calibri"/>
              </a:rPr>
              <a:t>interactive dashboard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48640" y="4892039"/>
            <a:ext cx="265176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86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685800" y="4910327"/>
            <a:ext cx="2468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" b="1" i="0">
                <a:solidFill>
                  <a:srgbClr val="122B4E"/>
                </a:solidFill>
                <a:latin typeface="Calibri"/>
              </a:rPr>
              <a:t>uv · Uvicorn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50" b="0" i="0">
                <a:solidFill>
                  <a:srgbClr val="5A6674"/>
                </a:solidFill>
                <a:latin typeface="Calibri"/>
              </a:rPr>
              <a:t>tooling &amp; serving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657600" y="10972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22B4E"/>
                </a:solidFill>
                <a:latin typeface="Calibri"/>
              </a:rPr>
              <a:t>Analysis pipeline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3931920" y="160020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E8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1 · Data Ingestion</a:t>
            </a:r>
          </a:p>
          <a:p>
            <a:pPr algn="ctr"/>
            <a:r>
              <a:rPr sz="900" b="0" i="0">
                <a:solidFill>
                  <a:srgbClr val="FCE7D8"/>
                </a:solidFill>
                <a:latin typeface="Calibri"/>
              </a:rPr>
              <a:t>FIRs · CDRs · Banking · Social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5577840" y="2148840"/>
            <a:ext cx="0" cy="146304"/>
          </a:xfrm>
          <a:prstGeom prst="line">
            <a:avLst/>
          </a:prstGeom>
          <a:ln w="25400">
            <a:solidFill>
              <a:srgbClr val="E86B2D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3931920" y="2295144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12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2 · NLP Extraction</a:t>
            </a:r>
          </a:p>
          <a:p>
            <a:pPr algn="ctr"/>
            <a:r>
              <a:rPr sz="900" b="0" i="0">
                <a:solidFill>
                  <a:srgbClr val="FCE7D8"/>
                </a:solidFill>
                <a:latin typeface="Calibri"/>
              </a:rPr>
              <a:t>spaCy NER + domain regex</a:t>
            </a:r>
          </a:p>
        </p:txBody>
      </p:sp>
      <p:cxnSp>
        <p:nvCxnSpPr>
          <p:cNvPr id="17428" name="Connector 17427"/>
          <p:cNvCxnSpPr/>
          <p:nvPr/>
        </p:nvCxnSpPr>
        <p:spPr>
          <a:xfrm>
            <a:off x="5577840" y="2843784"/>
            <a:ext cx="0" cy="146304"/>
          </a:xfrm>
          <a:prstGeom prst="line">
            <a:avLst/>
          </a:prstGeom>
          <a:ln w="25400">
            <a:solidFill>
              <a:srgbClr val="E86B2D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Rounded Rectangle 17428"/>
          <p:cNvSpPr/>
          <p:nvPr/>
        </p:nvSpPr>
        <p:spPr>
          <a:xfrm>
            <a:off x="3931920" y="2990088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E8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3 · Entity Resolution</a:t>
            </a:r>
          </a:p>
          <a:p>
            <a:pPr algn="ctr"/>
            <a:r>
              <a:rPr sz="900" b="0" i="0">
                <a:solidFill>
                  <a:srgbClr val="FCE7D8"/>
                </a:solidFill>
                <a:latin typeface="Calibri"/>
              </a:rPr>
              <a:t>match people/phones across sources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5577840" y="3538728"/>
            <a:ext cx="0" cy="146304"/>
          </a:xfrm>
          <a:prstGeom prst="line">
            <a:avLst/>
          </a:prstGeom>
          <a:ln w="25400">
            <a:solidFill>
              <a:srgbClr val="E86B2D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Rounded Rectangle 17430"/>
          <p:cNvSpPr/>
          <p:nvPr/>
        </p:nvSpPr>
        <p:spPr>
          <a:xfrm>
            <a:off x="3931920" y="3685032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12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4 · Knowledge Graph</a:t>
            </a:r>
          </a:p>
          <a:p>
            <a:pPr algn="ctr"/>
            <a:r>
              <a:rPr sz="900" b="0" i="0">
                <a:solidFill>
                  <a:srgbClr val="FCE7D8"/>
                </a:solidFill>
                <a:latin typeface="Calibri"/>
              </a:rPr>
              <a:t>nodes = entities, edges = links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5577840" y="4233672"/>
            <a:ext cx="0" cy="146304"/>
          </a:xfrm>
          <a:prstGeom prst="line">
            <a:avLst/>
          </a:prstGeom>
          <a:ln w="25400">
            <a:solidFill>
              <a:srgbClr val="E86B2D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Rounded Rectangle 17432"/>
          <p:cNvSpPr/>
          <p:nvPr/>
        </p:nvSpPr>
        <p:spPr>
          <a:xfrm>
            <a:off x="3931920" y="4379976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E8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5 · Graph Analytics</a:t>
            </a:r>
          </a:p>
          <a:p>
            <a:pPr algn="ctr"/>
            <a:r>
              <a:rPr sz="900" b="0" i="0">
                <a:solidFill>
                  <a:srgbClr val="FCE7D8"/>
                </a:solidFill>
                <a:latin typeface="Calibri"/>
              </a:rPr>
              <a:t>centrality · communities · anomalies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5577840" y="4928616"/>
            <a:ext cx="0" cy="146304"/>
          </a:xfrm>
          <a:prstGeom prst="line">
            <a:avLst/>
          </a:prstGeom>
          <a:ln w="25400">
            <a:solidFill>
              <a:srgbClr val="E86B2D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3931920" y="507492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12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6 · Role Classification</a:t>
            </a:r>
          </a:p>
          <a:p>
            <a:pPr algn="ctr"/>
            <a:r>
              <a:rPr sz="900" b="0" i="0">
                <a:solidFill>
                  <a:srgbClr val="FCE7D8"/>
                </a:solidFill>
                <a:latin typeface="Calibri"/>
              </a:rPr>
              <a:t>kingpin · financier · lieutenant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5577840" y="5623559"/>
            <a:ext cx="0" cy="146305"/>
          </a:xfrm>
          <a:prstGeom prst="line">
            <a:avLst/>
          </a:prstGeom>
          <a:ln w="25400">
            <a:solidFill>
              <a:srgbClr val="E86B2D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3931920" y="5769864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E8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7 · Dashboard &amp; Alerts</a:t>
            </a:r>
          </a:p>
          <a:p>
            <a:pPr algn="ctr"/>
            <a:r>
              <a:rPr sz="900" b="0" i="0">
                <a:solidFill>
                  <a:srgbClr val="FCE7D8"/>
                </a:solidFill>
                <a:latin typeface="Calibri"/>
              </a:rPr>
              <a:t>visual network + ranked influencers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498079" y="141732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674"/>
                </a:solidFill>
                <a:latin typeface="Calibri"/>
              </a:rPr>
              <a:t>Green-field, works today:</a:t>
            </a:r>
          </a:p>
          <a:p>
            <a:pPr algn="l"/>
            <a:r>
              <a:rPr sz="1050" b="0" i="0">
                <a:solidFill>
                  <a:srgbClr val="5A6674"/>
                </a:solidFill>
                <a:latin typeface="Calibri"/>
              </a:rPr>
              <a:t>an end-to-end run re-discovers the hidden gang.</a:t>
            </a:r>
          </a:p>
          <a:p>
            <a:pPr algn="l"/>
            <a:r>
              <a:rPr sz="1050" b="0" i="0">
                <a:solidFill>
                  <a:srgbClr val="5A6674"/>
                </a:solidFill>
                <a:latin typeface="Calibri"/>
              </a:rPr>
              <a:t>Live at http://127.0.0.1:8000/ui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498079" y="512064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F6FB2"/>
                </a:solidFill>
                <a:latin typeface="Calibri"/>
              </a:rPr>
              <a:t>Own analytics, own dashboard:</a:t>
            </a:r>
          </a:p>
          <a:p>
            <a:pPr algn="l"/>
            <a:r>
              <a:rPr sz="1050" b="0" i="0">
                <a:solidFill>
                  <a:srgbClr val="1F6FB2"/>
                </a:solidFill>
                <a:latin typeface="Calibri"/>
              </a:rPr>
              <a:t>the network graph is drawn from real pipeline output,</a:t>
            </a:r>
          </a:p>
          <a:p>
            <a:pPr algn="l"/>
            <a:r>
              <a:rPr sz="1050" b="0" i="0">
                <a:solidFill>
                  <a:srgbClr val="1F6FB2"/>
                </a:solidFill>
                <a:latin typeface="Calibri"/>
              </a:rPr>
              <a:t>not a stock mock-up.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300" b="1" dirty="0">
                <a:solidFill>
                  <a:srgbClr val="E86B2D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766560" y="38404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674"/>
                </a:solidFill>
                <a:latin typeface="Calibri"/>
              </a:rPr>
              <a:t>Risks identified  •  mitigation baked in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40080" y="137160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E9F1FB"/>
          </a:solidFill>
          <a:ln w="1587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822959" y="1554480"/>
            <a:ext cx="32004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F6FB2"/>
                </a:solidFill>
                <a:latin typeface="Calibri"/>
              </a:rPr>
              <a:t>DATA FEASIBILITY ✓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A6674"/>
                </a:solidFill>
                <a:latin typeface="Calibri"/>
              </a:rPr>
              <a:t>Runs on real Indian police FIRs (ICDAR 2023) + synthetic CDR/bank data; drops in to any existing records.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526280" y="137160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E9F1FB"/>
          </a:solidFill>
          <a:ln w="1587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709160" y="1554480"/>
            <a:ext cx="32004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F6FB2"/>
                </a:solidFill>
                <a:latin typeface="Calibri"/>
              </a:rPr>
              <a:t>TECHNICAL FEASIBILITY ✓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A6674"/>
                </a:solidFill>
                <a:latin typeface="Calibri"/>
              </a:rPr>
              <a:t>Core pipeline built &amp; demoed on FastAPI + NetworkX. Pure-python path, low hardware footprint.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412480" y="137160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E9F1FB"/>
          </a:solidFill>
          <a:ln w="1587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8595359" y="1554480"/>
            <a:ext cx="32004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F6FB2"/>
                </a:solidFill>
                <a:latin typeface="Calibri"/>
              </a:rPr>
              <a:t>OPERATIONAL VIABILITY ✓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A6674"/>
                </a:solidFill>
                <a:latin typeface="Calibri"/>
              </a:rPr>
              <a:t>NoOps web dashboard; investigators query directly without data-science skills.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40080" y="3154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22B4E"/>
                </a:solidFill>
                <a:latin typeface="Calibri"/>
              </a:rPr>
              <a:t>Risks  &amp;  challenges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943600" y="3154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22B4E"/>
                </a:solidFill>
                <a:latin typeface="Calibri"/>
              </a:rPr>
              <a:t>Overcoming strategies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40080" y="3611880"/>
            <a:ext cx="502920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86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822960" y="3639312"/>
            <a:ext cx="46634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86B2D"/>
                </a:solidFill>
                <a:latin typeface="Calibri"/>
              </a:rPr>
              <a:t>Unstructured / noisy data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943600" y="3611880"/>
            <a:ext cx="5029200" cy="566928"/>
          </a:xfrm>
          <a:prstGeom prst="roundRect">
            <a:avLst>
              <a:gd name="adj" fmla="val 30000"/>
            </a:avLst>
          </a:prstGeom>
          <a:solidFill>
            <a:srgbClr val="E8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6126480" y="3611880"/>
            <a:ext cx="4663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Robust regex fallback + entity plausibility guard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40080" y="4325112"/>
            <a:ext cx="502920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2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822960" y="4352544"/>
            <a:ext cx="46634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22B4E"/>
                </a:solidFill>
                <a:latin typeface="Calibri"/>
              </a:rPr>
              <a:t>Entity name collisions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943600" y="4325112"/>
            <a:ext cx="5029200" cy="566928"/>
          </a:xfrm>
          <a:prstGeom prst="roundRect">
            <a:avLst>
              <a:gd name="adj" fmla="val 30000"/>
            </a:avLst>
          </a:prstGeom>
          <a:solidFill>
            <a:srgbClr val="12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6126480" y="4325112"/>
            <a:ext cx="4663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Cross-source resolution &amp; context-based matching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40080" y="5038344"/>
            <a:ext cx="502920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86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822960" y="5065776"/>
            <a:ext cx="46634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86B2D"/>
                </a:solidFill>
                <a:latin typeface="Calibri"/>
              </a:rPr>
              <a:t>False-link risk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5943600" y="5038344"/>
            <a:ext cx="5029200" cy="566928"/>
          </a:xfrm>
          <a:prstGeom prst="roundRect">
            <a:avLst>
              <a:gd name="adj" fmla="val 30000"/>
            </a:avLst>
          </a:prstGeom>
          <a:solidFill>
            <a:srgbClr val="E8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6126480" y="5038344"/>
            <a:ext cx="4663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Confidence scoring + human-in-the-loop review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40080" y="5751576"/>
            <a:ext cx="502920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22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822960" y="5779008"/>
            <a:ext cx="46634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22B4E"/>
                </a:solidFill>
                <a:latin typeface="Calibri"/>
              </a:rPr>
              <a:t>Scale &amp; privacy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5943600" y="5751576"/>
            <a:ext cx="5029200" cy="566928"/>
          </a:xfrm>
          <a:prstGeom prst="roundRect">
            <a:avLst>
              <a:gd name="adj" fmla="val 30000"/>
            </a:avLst>
          </a:prstGeom>
          <a:solidFill>
            <a:srgbClr val="12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6126480" y="5751576"/>
            <a:ext cx="4663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On-prem deploy, PII minimisation, access controls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300" b="1" dirty="0">
                <a:solidFill>
                  <a:srgbClr val="E86B2D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766560" y="38404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674"/>
                </a:solidFill>
                <a:latin typeface="Calibri"/>
              </a:rPr>
              <a:t>For citizens, police &amp; society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640080" y="1280160"/>
            <a:ext cx="128016" cy="914400"/>
          </a:xfrm>
          <a:prstGeom prst="rect">
            <a:avLst/>
          </a:prstGeom>
          <a:solidFill>
            <a:srgbClr val="E8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914400" y="1280160"/>
            <a:ext cx="566928" cy="566928"/>
          </a:xfrm>
          <a:prstGeom prst="ellipse">
            <a:avLst/>
          </a:prstGeom>
          <a:solidFill>
            <a:srgbClr val="12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914400" y="12801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645920" y="128016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122B4E"/>
                </a:solidFill>
                <a:latin typeface="Calibri"/>
              </a:rPr>
              <a:t>Faster investigations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0" i="0">
                <a:solidFill>
                  <a:srgbClr val="5A6674"/>
                </a:solidFill>
                <a:latin typeface="Calibri"/>
              </a:rPr>
              <a:t>Hours, not weeks, to map a network; earlier arrests &amp; case closure.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640080" y="2267712"/>
            <a:ext cx="128016" cy="9144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Oval 17415"/>
          <p:cNvSpPr/>
          <p:nvPr/>
        </p:nvSpPr>
        <p:spPr>
          <a:xfrm>
            <a:off x="914400" y="2267712"/>
            <a:ext cx="566928" cy="566928"/>
          </a:xfrm>
          <a:prstGeom prst="ellipse">
            <a:avLst/>
          </a:prstGeom>
          <a:solidFill>
            <a:srgbClr val="12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914400" y="22677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645920" y="2267712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122B4E"/>
                </a:solidFill>
                <a:latin typeface="Calibri"/>
              </a:rPr>
              <a:t>Prevents crimes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0" i="0">
                <a:solidFill>
                  <a:srgbClr val="5A6674"/>
                </a:solidFill>
                <a:latin typeface="Calibri"/>
              </a:rPr>
              <a:t>Anomaly alerts surface emerging rackets before they scale.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640080" y="3255264"/>
            <a:ext cx="128016" cy="914400"/>
          </a:xfrm>
          <a:prstGeom prst="rect">
            <a:avLst/>
          </a:prstGeom>
          <a:solidFill>
            <a:srgbClr val="E8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Oval 17419"/>
          <p:cNvSpPr/>
          <p:nvPr/>
        </p:nvSpPr>
        <p:spPr>
          <a:xfrm>
            <a:off x="914400" y="3255264"/>
            <a:ext cx="566928" cy="566928"/>
          </a:xfrm>
          <a:prstGeom prst="ellipse">
            <a:avLst/>
          </a:prstGeom>
          <a:solidFill>
            <a:srgbClr val="12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914400" y="325526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645920" y="3255264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122B4E"/>
                </a:solidFill>
                <a:latin typeface="Calibri"/>
              </a:rPr>
              <a:t>Citizen safety &amp; trust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0" i="0">
                <a:solidFill>
                  <a:srgbClr val="5A6674"/>
                </a:solidFill>
                <a:latin typeface="Calibri"/>
              </a:rPr>
              <a:t>Evidence-led policing reduces wrongful suspicion of innocents.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640080" y="4242816"/>
            <a:ext cx="128016" cy="9144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Oval 17423"/>
          <p:cNvSpPr/>
          <p:nvPr/>
        </p:nvSpPr>
        <p:spPr>
          <a:xfrm>
            <a:off x="914400" y="4242816"/>
            <a:ext cx="566928" cy="566928"/>
          </a:xfrm>
          <a:prstGeom prst="ellipse">
            <a:avLst/>
          </a:prstGeom>
          <a:solidFill>
            <a:srgbClr val="12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914400" y="424281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1645920" y="4242816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122B4E"/>
                </a:solidFill>
                <a:latin typeface="Calibri"/>
              </a:rPr>
              <a:t>Lower investigative cost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0" i="0">
                <a:solidFill>
                  <a:srgbClr val="5A6674"/>
                </a:solidFill>
                <a:latin typeface="Calibri"/>
              </a:rPr>
              <a:t>Automation frees officers for field work; one tool over many silos.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640080" y="5230368"/>
            <a:ext cx="128016" cy="914400"/>
          </a:xfrm>
          <a:prstGeom prst="rect">
            <a:avLst/>
          </a:prstGeom>
          <a:solidFill>
            <a:srgbClr val="E86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Oval 17427"/>
          <p:cNvSpPr/>
          <p:nvPr/>
        </p:nvSpPr>
        <p:spPr>
          <a:xfrm>
            <a:off x="914400" y="5230368"/>
            <a:ext cx="566928" cy="566928"/>
          </a:xfrm>
          <a:prstGeom prst="ellipse">
            <a:avLst/>
          </a:prstGeom>
          <a:solidFill>
            <a:srgbClr val="12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914400" y="523036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1645920" y="5230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122B4E"/>
                </a:solidFill>
                <a:latin typeface="Calibri"/>
              </a:rPr>
              <a:t>Data-driven, scalable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0" i="0">
                <a:solidFill>
                  <a:srgbClr val="5A6674"/>
                </a:solidFill>
                <a:latin typeface="Calibri"/>
              </a:rPr>
              <a:t>Trains on more districts with the same team and modest hardware.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F6FB2"/>
                </a:solidFill>
                <a:latin typeface="Calibri"/>
              </a:rPr>
              <a:t>Social · economic  →  safer communities, saved resources    |    Environmental  →  paperless, server-light on-prem compute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300" b="1" dirty="0">
                <a:solidFill>
                  <a:srgbClr val="E86B2D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766560" y="38404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674"/>
                </a:solidFill>
                <a:latin typeface="Calibri"/>
              </a:rPr>
              <a:t>Grounding &amp; prior work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40080" y="1234440"/>
            <a:ext cx="5852160" cy="731520"/>
          </a:xfrm>
          <a:prstGeom prst="roundRect">
            <a:avLst>
              <a:gd name="adj" fmla="val 30000"/>
            </a:avLst>
          </a:prstGeom>
          <a:solidFill>
            <a:srgbClr val="E9F1FB"/>
          </a:solidFill>
          <a:ln w="1587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822960" y="1261872"/>
            <a:ext cx="548640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 i="0">
                <a:solidFill>
                  <a:srgbClr val="122B4E"/>
                </a:solidFill>
                <a:latin typeface="Calibri"/>
              </a:rPr>
              <a:t>ICDAR 2023 FIR Dataset</a:t>
            </a:r>
            <a:r>
              <a:rPr sz="1100" b="0" i="0">
                <a:solidFill>
                  <a:srgbClr val="5A6674"/>
                </a:solidFill>
                <a:latin typeface="Calibri"/>
              </a:rPr>
              <a:t>   ·   </a:t>
            </a:r>
            <a:r>
              <a:rPr sz="1000" b="0" i="0">
                <a:solidFill>
                  <a:srgbClr val="5A6674"/>
                </a:solidFill>
                <a:latin typeface="Calibri"/>
              </a:rPr>
              <a:t>Real FIRs: WB, Rajasthan, Sikkim, Tripura &amp; Nagaland — 2,447 annotated fields.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6FB2"/>
                </a:solidFill>
                <a:latin typeface="Calibri"/>
              </a:rPr>
              <a:t>github.com/LegalDocumentProcessing/FIR_Dataset_ICDAR2023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40080" y="2103120"/>
            <a:ext cx="5852160" cy="731520"/>
          </a:xfrm>
          <a:prstGeom prst="roundRect">
            <a:avLst>
              <a:gd name="adj" fmla="val 30000"/>
            </a:avLst>
          </a:prstGeom>
          <a:solidFill>
            <a:srgbClr val="E9F1FB"/>
          </a:solidFill>
          <a:ln w="1587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822960" y="2130551"/>
            <a:ext cx="548640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 i="0">
                <a:solidFill>
                  <a:srgbClr val="122B4E"/>
                </a:solidFill>
                <a:latin typeface="Calibri"/>
              </a:rPr>
              <a:t>NetworkX Graph Analytics</a:t>
            </a:r>
            <a:r>
              <a:rPr sz="1100" b="0" i="0">
                <a:solidFill>
                  <a:srgbClr val="5A6674"/>
                </a:solidFill>
                <a:latin typeface="Calibri"/>
              </a:rPr>
              <a:t>   ·   </a:t>
            </a:r>
            <a:r>
              <a:rPr sz="1000" b="0" i="0">
                <a:solidFill>
                  <a:srgbClr val="5A6674"/>
                </a:solidFill>
                <a:latin typeface="Calibri"/>
              </a:rPr>
              <a:t>Centrality, community detection (Louvain) &amp; anomaly scoring.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6FB2"/>
                </a:solidFill>
                <a:latin typeface="Calibri"/>
              </a:rPr>
              <a:t>networkx.org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40080" y="2971800"/>
            <a:ext cx="5852160" cy="731520"/>
          </a:xfrm>
          <a:prstGeom prst="roundRect">
            <a:avLst>
              <a:gd name="adj" fmla="val 30000"/>
            </a:avLst>
          </a:prstGeom>
          <a:solidFill>
            <a:srgbClr val="E9F1FB"/>
          </a:solidFill>
          <a:ln w="1587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822960" y="2999232"/>
            <a:ext cx="548640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 i="0">
                <a:solidFill>
                  <a:srgbClr val="122B4E"/>
                </a:solidFill>
                <a:latin typeface="Calibri"/>
              </a:rPr>
              <a:t>spaCy NER</a:t>
            </a:r>
            <a:r>
              <a:rPr sz="1100" b="0" i="0">
                <a:solidFill>
                  <a:srgbClr val="5A6674"/>
                </a:solidFill>
                <a:latin typeface="Calibri"/>
              </a:rPr>
              <a:t>   ·   </a:t>
            </a:r>
            <a:r>
              <a:rPr sz="1000" b="0" i="0">
                <a:solidFill>
                  <a:srgbClr val="5A6674"/>
                </a:solidFill>
                <a:latin typeface="Calibri"/>
              </a:rPr>
              <a:t>Named-entity recognition for people / organisations / locations.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6FB2"/>
                </a:solidFill>
                <a:latin typeface="Calibri"/>
              </a:rPr>
              <a:t>spacy.io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40080" y="3840480"/>
            <a:ext cx="5852160" cy="731520"/>
          </a:xfrm>
          <a:prstGeom prst="roundRect">
            <a:avLst>
              <a:gd name="adj" fmla="val 30000"/>
            </a:avLst>
          </a:prstGeom>
          <a:solidFill>
            <a:srgbClr val="E9F1FB"/>
          </a:solidFill>
          <a:ln w="1587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822960" y="3867912"/>
            <a:ext cx="548640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 i="0">
                <a:solidFill>
                  <a:srgbClr val="122B4E"/>
                </a:solidFill>
                <a:latin typeface="Calibri"/>
              </a:rPr>
              <a:t>Cytoscape.js</a:t>
            </a:r>
            <a:r>
              <a:rPr sz="1100" b="0" i="0">
                <a:solidFill>
                  <a:srgbClr val="5A6674"/>
                </a:solidFill>
                <a:latin typeface="Calibri"/>
              </a:rPr>
              <a:t>   ·   </a:t>
            </a:r>
            <a:r>
              <a:rPr sz="1000" b="0" i="0">
                <a:solidFill>
                  <a:srgbClr val="5A6674"/>
                </a:solidFill>
                <a:latin typeface="Calibri"/>
              </a:rPr>
              <a:t>Interactive graph visualisation library.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6FB2"/>
                </a:solidFill>
                <a:latin typeface="Calibri"/>
              </a:rPr>
              <a:t>js.cytoscape.org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40080" y="4800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22B4E"/>
                </a:solidFill>
                <a:latin typeface="Calibri"/>
              </a:rPr>
              <a:t>Demo and code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40080" y="5303520"/>
            <a:ext cx="5852160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86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868680" y="539496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1" i="0">
                <a:solidFill>
                  <a:srgbClr val="122B4E"/>
                </a:solidFill>
                <a:latin typeface="Calibri"/>
              </a:rPr>
              <a:t>Live working prototype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0" i="0">
                <a:solidFill>
                  <a:srgbClr val="5A6674"/>
                </a:solidFill>
                <a:latin typeface="Calibri"/>
              </a:rPr>
              <a:t>FastAPI + interactive network dashboard — re-discovers the kingpin unguided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766560" y="530352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A6674"/>
                </a:solidFill>
                <a:latin typeface="Calibri"/>
              </a:rPr>
              <a:t>Full source in the project repo. End-to-end verify passes: it finds Vikram Rathore (kingpin) &amp; Rajesh Kulkarni (launderer) from scattered records.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